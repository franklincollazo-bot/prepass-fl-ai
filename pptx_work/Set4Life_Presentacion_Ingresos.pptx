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20899" y="1783705"/>
            <a:ext cx="2902202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216"/>
              </a:spcBef>
              <a:spcAft>
                <a:spcPts val="1200"/>
              </a:spcAft>
              <a:buNone/>
            </a:pPr>
            <a:r>
              <a:rPr lang="en-US" sz="4800" b="1" dirty="0">
                <a:solidFill>
                  <a:srgbClr val="C5A05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SET4LIFE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3810000" y="2640955"/>
            <a:ext cx="1524000" cy="50750"/>
          </a:xfrm>
          <a:prstGeom prst="rect">
            <a:avLst/>
          </a:prstGeom>
          <a:solidFill>
            <a:srgbClr val="C5A0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196562" y="2996505"/>
            <a:ext cx="4750728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ILUSTRACIONES DE INGRESOS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351097" y="3501330"/>
            <a:ext cx="444180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buNone/>
            </a:pPr>
            <a:r>
              <a:rPr lang="en-US" sz="18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Modelos de Liderazgo para Team Captains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0" y="5041999"/>
            <a:ext cx="9144000" cy="101501"/>
          </a:xfrm>
          <a:prstGeom prst="rect">
            <a:avLst/>
          </a:prstGeom>
          <a:solidFill>
            <a:srgbClr val="C5A0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507950"/>
            <a:ext cx="76200" cy="507950"/>
          </a:xfrm>
          <a:prstGeom prst="rect">
            <a:avLst/>
          </a:prstGeom>
          <a:solidFill>
            <a:srgbClr val="C5A0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74650" y="528489"/>
            <a:ext cx="5098057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5A05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Meta de Ingresos Anuales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938635" y="1604367"/>
            <a:ext cx="5372064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6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$500,000 / Año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3241774" y="2607618"/>
            <a:ext cx="271366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0"/>
              </a:spcAft>
              <a:buNone/>
            </a:pPr>
            <a:r>
              <a:rPr lang="en-US" sz="2400" dirty="0">
                <a:solidFill>
                  <a:srgbClr val="C5A05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$41,667 Mensuales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333551" y="3341043"/>
            <a:ext cx="6476899" cy="959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Meta alcanzada exclusivamente mediante el spread del equipo, asumiendo una organización estable y producción activa.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507950"/>
            <a:ext cx="76200" cy="507950"/>
          </a:xfrm>
          <a:prstGeom prst="rect">
            <a:avLst/>
          </a:prstGeom>
          <a:solidFill>
            <a:srgbClr val="C5A0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74650" y="528489"/>
            <a:ext cx="7976122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5A05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Equipo de 10 Agentes (Producción Real)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50" y="1269802"/>
            <a:ext cx="3937099" cy="1100286"/>
          </a:xfrm>
          <a:prstGeom prst="roundRect">
            <a:avLst>
              <a:gd name="adj" fmla="val 9234"/>
            </a:avLst>
          </a:prstGeom>
          <a:solidFill>
            <a:srgbClr val="1A1A1A"/>
          </a:solidFill>
          <a:ln w="9525">
            <a:solidFill>
              <a:srgbClr val="C5A05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07975" y="1478607"/>
            <a:ext cx="36077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C5A05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Productores Top (2)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07975" y="1808708"/>
            <a:ext cx="360779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50 Pólizas/Mes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698950" y="1269802"/>
            <a:ext cx="3937099" cy="1100286"/>
          </a:xfrm>
          <a:prstGeom prst="roundRect">
            <a:avLst>
              <a:gd name="adj" fmla="val 9234"/>
            </a:avLst>
          </a:prstGeom>
          <a:solidFill>
            <a:srgbClr val="1A1A1A"/>
          </a:solidFill>
          <a:ln w="9525">
            <a:solidFill>
              <a:srgbClr val="C5A05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898975" y="1478607"/>
            <a:ext cx="36077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C5A05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Productores Sólidos (3)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898975" y="1808708"/>
            <a:ext cx="360779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54 Pólizas/Mes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07950" y="2623989"/>
            <a:ext cx="3937099" cy="1100435"/>
          </a:xfrm>
          <a:prstGeom prst="roundRect">
            <a:avLst>
              <a:gd name="adj" fmla="val 9233"/>
            </a:avLst>
          </a:prstGeom>
          <a:solidFill>
            <a:srgbClr val="1A1A1A"/>
          </a:solidFill>
          <a:ln w="9525">
            <a:solidFill>
              <a:srgbClr val="C5A05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07975" y="2832943"/>
            <a:ext cx="36077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C5A05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Part-Time (3)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07975" y="3163044"/>
            <a:ext cx="360779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36 Pólizas/Mes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698950" y="2623989"/>
            <a:ext cx="3937099" cy="1100435"/>
          </a:xfrm>
          <a:prstGeom prst="roundRect">
            <a:avLst>
              <a:gd name="adj" fmla="val 9233"/>
            </a:avLst>
          </a:prstGeom>
          <a:solidFill>
            <a:srgbClr val="1A1A1A"/>
          </a:solidFill>
          <a:ln w="9525">
            <a:solidFill>
              <a:srgbClr val="C5A05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898975" y="2832943"/>
            <a:ext cx="36077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C5A05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Inconsistentes (2)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898975" y="3163044"/>
            <a:ext cx="360779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14 Pólizas/Mes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45388" y="3978325"/>
            <a:ext cx="829066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2000"/>
              </a:spcBef>
              <a:spcAft>
                <a:spcPts val="2400"/>
              </a:spcAft>
              <a:buNone/>
            </a:pPr>
            <a:r>
              <a:rPr lang="en-US" sz="2400" b="1" dirty="0">
                <a:solidFill>
                  <a:srgbClr val="C5A05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Total Equipo: 154 Pólizas / Mes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400050"/>
            <a:ext cx="76200" cy="381000"/>
          </a:xfrm>
          <a:prstGeom prst="rect">
            <a:avLst/>
          </a:prstGeom>
          <a:solidFill>
            <a:srgbClr val="C5A0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47700" y="381000"/>
            <a:ext cx="4917257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5A05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Cálculo Mensual del Capitán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1000" y="990600"/>
            <a:ext cx="8382000" cy="3771900"/>
          </a:xfrm>
          <a:prstGeom prst="roundRect">
            <a:avLst>
              <a:gd name="adj" fmla="val 4040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34901" y="2016175"/>
            <a:ext cx="7874198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4901" y="1600349"/>
            <a:ext cx="34568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5A05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Producción Total (154 x $350 AP)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407325" y="1557486"/>
            <a:ext cx="112381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$53,900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34901" y="2670125"/>
            <a:ext cx="7874198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4901" y="2254300"/>
            <a:ext cx="374578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5A05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Spread del Capitán (Promedio 10%)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576840" y="2211437"/>
            <a:ext cx="950905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$5,390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634901" y="3324076"/>
            <a:ext cx="7874198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4901" y="2908250"/>
            <a:ext cx="316254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5A05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Bonos y Overrides Adicionales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593509" y="2865388"/>
            <a:ext cx="93390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$2,110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634901" y="3592264"/>
            <a:ext cx="7874198" cy="0"/>
          </a:xfrm>
          <a:prstGeom prst="line">
            <a:avLst/>
          </a:prstGeom>
          <a:noFill/>
          <a:ln w="19050">
            <a:solidFill>
              <a:srgbClr val="C5A05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4901" y="3828752"/>
            <a:ext cx="310956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INGRESO TOTAL MENSUAL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266236" y="3728740"/>
            <a:ext cx="126772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5A05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$7,500</a:t>
            </a:r>
            <a:endParaRPr lang="en-US" sz="3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507950"/>
            <a:ext cx="76200" cy="507950"/>
          </a:xfrm>
          <a:prstGeom prst="rect">
            <a:avLst/>
          </a:prstGeom>
          <a:solidFill>
            <a:srgbClr val="C5A0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74650" y="528489"/>
            <a:ext cx="446746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5A05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El Efecto Multiplicador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50" y="979587"/>
            <a:ext cx="2540198" cy="3143250"/>
          </a:xfrm>
          <a:prstGeom prst="roundRect">
            <a:avLst>
              <a:gd name="adj" fmla="val 35997"/>
            </a:avLst>
          </a:prstGeom>
          <a:solidFill>
            <a:srgbClr val="1A1A1A"/>
          </a:solidFill>
          <a:ln w="47625">
            <a:solidFill>
              <a:srgbClr val="C5A05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19746" y="1967061"/>
            <a:ext cx="1716607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200"/>
              </a:spcBef>
              <a:spcAft>
                <a:spcPts val="4200"/>
              </a:spcAft>
              <a:buNone/>
            </a:pPr>
            <a:r>
              <a:rPr lang="en-US" sz="4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19746" y="3237012"/>
            <a:ext cx="17166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C5A05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AGENTES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302050" y="979587"/>
            <a:ext cx="2540050" cy="3143250"/>
          </a:xfrm>
          <a:prstGeom prst="roundRect">
            <a:avLst>
              <a:gd name="adj" fmla="val 35999"/>
            </a:avLst>
          </a:prstGeom>
          <a:solidFill>
            <a:srgbClr val="1A1A1A"/>
          </a:solidFill>
          <a:ln w="47625">
            <a:solidFill>
              <a:srgbClr val="C5A05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713847" y="1967061"/>
            <a:ext cx="1716456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200"/>
              </a:spcBef>
              <a:spcAft>
                <a:spcPts val="4200"/>
              </a:spcAft>
              <a:buNone/>
            </a:pPr>
            <a:r>
              <a:rPr lang="en-US" sz="4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X5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3713847" y="3237012"/>
            <a:ext cx="1716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C5A05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CRECIMIENTO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096000" y="979587"/>
            <a:ext cx="2540050" cy="3143250"/>
          </a:xfrm>
          <a:prstGeom prst="roundRect">
            <a:avLst>
              <a:gd name="adj" fmla="val 35999"/>
            </a:avLst>
          </a:prstGeom>
          <a:solidFill>
            <a:srgbClr val="1A1A1A"/>
          </a:solidFill>
          <a:ln w="47625">
            <a:solidFill>
              <a:srgbClr val="C5A05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507797" y="1967061"/>
            <a:ext cx="1716456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200"/>
              </a:spcBef>
              <a:spcAft>
                <a:spcPts val="4200"/>
              </a:spcAft>
              <a:buNone/>
            </a:pPr>
            <a:r>
              <a:rPr lang="en-US" sz="4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50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6507797" y="3237012"/>
            <a:ext cx="1716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C5A05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AGENTES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26669" y="4086374"/>
            <a:ext cx="829066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dirty="0">
                <a:solidFill>
                  <a:srgbClr val="C5A05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Proyección a 12-18 meses con sistema de duplicación.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C5A0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26669" y="1038225"/>
            <a:ext cx="8290661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4200" b="1" dirty="0">
                <a:solidFill>
                  <a:srgbClr val="C5A05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Ingreso Potencial (Nivel Capitán)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399282" y="2384375"/>
            <a:ext cx="647234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7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$90,000+ / Año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2051745" y="3686026"/>
            <a:ext cx="5141169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C5A05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Libertad Financiera &amp; Liderazgo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2026-05-20T15:18:01Z</dcterms:created>
  <dcterms:modified xsi:type="dcterms:W3CDTF">2026-05-20T15:18:01Z</dcterms:modified>
</cp:coreProperties>
</file>